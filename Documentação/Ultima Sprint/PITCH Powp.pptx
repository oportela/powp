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Proxima Nova" panose="020B0604020202020204" charset="0"/>
      <p:regular r:id="rId14"/>
    </p:embeddedFont>
    <p:embeddedFont>
      <p:font typeface="Proxima Nova Bold" panose="020B0604020202020204" charset="0"/>
      <p:regular r:id="rId15"/>
    </p:embeddedFont>
    <p:embeddedFont>
      <p:font typeface="Proxima Nova Heavy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3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0.svg"/><Relationship Id="rId7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5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20298" y="1028700"/>
            <a:ext cx="845359" cy="845359"/>
          </a:xfrm>
          <a:custGeom>
            <a:avLst/>
            <a:gdLst/>
            <a:ahLst/>
            <a:cxnLst/>
            <a:rect l="l" t="t" r="r" b="b"/>
            <a:pathLst>
              <a:path w="845359" h="845359">
                <a:moveTo>
                  <a:pt x="0" y="0"/>
                </a:moveTo>
                <a:lnTo>
                  <a:pt x="845359" y="0"/>
                </a:lnTo>
                <a:lnTo>
                  <a:pt x="845359" y="845359"/>
                </a:lnTo>
                <a:lnTo>
                  <a:pt x="0" y="845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22508" y="2936219"/>
            <a:ext cx="11873584" cy="7858154"/>
          </a:xfrm>
          <a:custGeom>
            <a:avLst/>
            <a:gdLst/>
            <a:ahLst/>
            <a:cxnLst/>
            <a:rect l="l" t="t" r="r" b="b"/>
            <a:pathLst>
              <a:path w="11873584" h="785815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69654" y="-734700"/>
            <a:ext cx="1660777" cy="1469400"/>
            <a:chOff x="0" y="0"/>
            <a:chExt cx="437406" cy="3870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414973" y="-734700"/>
            <a:ext cx="489701" cy="1469400"/>
            <a:chOff x="0" y="0"/>
            <a:chExt cx="128975" cy="3870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330432" y="3528574"/>
            <a:ext cx="6890405" cy="2730323"/>
          </a:xfrm>
          <a:custGeom>
            <a:avLst/>
            <a:gdLst/>
            <a:ahLst/>
            <a:cxnLst/>
            <a:rect l="l" t="t" r="r" b="b"/>
            <a:pathLst>
              <a:path w="6890405" h="2730323">
                <a:moveTo>
                  <a:pt x="0" y="0"/>
                </a:moveTo>
                <a:lnTo>
                  <a:pt x="6890405" y="0"/>
                </a:lnTo>
                <a:lnTo>
                  <a:pt x="6890405" y="2730323"/>
                </a:lnTo>
                <a:lnTo>
                  <a:pt x="0" y="27303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69654" y="2635456"/>
            <a:ext cx="5309907" cy="608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4456" b="1">
                <a:solidFill>
                  <a:srgbClr val="26A30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APRESENTANDO 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69654" y="6912921"/>
            <a:ext cx="5309907" cy="46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>
                <a:solidFill>
                  <a:srgbClr val="26A30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Matheus Marques Portela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69654" y="7424688"/>
            <a:ext cx="5309907" cy="46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>
                <a:solidFill>
                  <a:srgbClr val="26A30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João Luccas Marques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9654" y="7936455"/>
            <a:ext cx="5309907" cy="46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>
                <a:solidFill>
                  <a:srgbClr val="26A30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Pedro Henrique Echebarria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9654" y="8448222"/>
            <a:ext cx="5309907" cy="46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>
                <a:solidFill>
                  <a:srgbClr val="26A30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Marcos Paulo Moreira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9654" y="8959989"/>
            <a:ext cx="5309907" cy="46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>
                <a:solidFill>
                  <a:srgbClr val="26A30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Victor Manoel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69654" y="9471756"/>
            <a:ext cx="5309907" cy="46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>
                <a:solidFill>
                  <a:srgbClr val="26A30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Victor Duarte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2077" y="662561"/>
            <a:ext cx="1660777" cy="1469400"/>
            <a:chOff x="0" y="0"/>
            <a:chExt cx="437406" cy="38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99271" y="9621587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13241" y="662561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044589" y="9621587"/>
            <a:ext cx="489701" cy="1469400"/>
            <a:chOff x="0" y="0"/>
            <a:chExt cx="128975" cy="387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720745" y="349607"/>
            <a:ext cx="9271980" cy="9271980"/>
          </a:xfrm>
          <a:custGeom>
            <a:avLst/>
            <a:gdLst/>
            <a:ahLst/>
            <a:cxnLst/>
            <a:rect l="l" t="t" r="r" b="b"/>
            <a:pathLst>
              <a:path w="9271980" h="9271980">
                <a:moveTo>
                  <a:pt x="0" y="0"/>
                </a:moveTo>
                <a:lnTo>
                  <a:pt x="9271980" y="0"/>
                </a:lnTo>
                <a:lnTo>
                  <a:pt x="9271980" y="9271980"/>
                </a:lnTo>
                <a:lnTo>
                  <a:pt x="0" y="927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733550" y="2131961"/>
            <a:ext cx="5246370" cy="524637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25046" b="-25046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58091" y="2746746"/>
            <a:ext cx="6750742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u="none" strike="noStrike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O PROBLEMA A SER RESOLVIDO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8091" y="5210700"/>
            <a:ext cx="7119091" cy="305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26A301"/>
                </a:solidFill>
                <a:latin typeface="Proxima Nova"/>
                <a:ea typeface="Proxima Nova"/>
                <a:cs typeface="Proxima Nova"/>
                <a:sym typeface="Proxima Nova"/>
              </a:rPr>
              <a:t>Atualmente o mercado é composto por aproximadamente 99% de PME’s e compõe 30% do PIB segundo o SEBRAE. Sendo que maioria dessas não possuem um gerenciamento e tem dificuldades em sua gestão, e isso está incluso custo e falta de ferramentas no mercado voltada a elas.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72625" y="1946916"/>
            <a:ext cx="11760614" cy="1710635"/>
          </a:xfrm>
          <a:custGeom>
            <a:avLst/>
            <a:gdLst/>
            <a:ahLst/>
            <a:cxnLst/>
            <a:rect l="l" t="t" r="r" b="b"/>
            <a:pathLst>
              <a:path w="11760614" h="1710635">
                <a:moveTo>
                  <a:pt x="0" y="0"/>
                </a:moveTo>
                <a:lnTo>
                  <a:pt x="11760614" y="0"/>
                </a:lnTo>
                <a:lnTo>
                  <a:pt x="11760614" y="1710635"/>
                </a:lnTo>
                <a:lnTo>
                  <a:pt x="0" y="1710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731635" y="4206727"/>
            <a:ext cx="6662738" cy="0"/>
          </a:xfrm>
          <a:prstGeom prst="line">
            <a:avLst/>
          </a:prstGeom>
          <a:ln w="38100" cap="flat">
            <a:solidFill>
              <a:srgbClr val="006DA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1206319" y="-440700"/>
            <a:ext cx="1660777" cy="1469400"/>
            <a:chOff x="0" y="0"/>
            <a:chExt cx="437406" cy="3870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52501" y="9621587"/>
            <a:ext cx="1660777" cy="1469400"/>
            <a:chOff x="0" y="0"/>
            <a:chExt cx="437406" cy="3870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8999" y="-440700"/>
            <a:ext cx="489701" cy="1469400"/>
            <a:chOff x="0" y="0"/>
            <a:chExt cx="128975" cy="3870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97819" y="9621587"/>
            <a:ext cx="489701" cy="1469400"/>
            <a:chOff x="0" y="0"/>
            <a:chExt cx="128975" cy="3870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532110" y="736288"/>
            <a:ext cx="3098964" cy="3098964"/>
          </a:xfrm>
          <a:custGeom>
            <a:avLst/>
            <a:gdLst/>
            <a:ahLst/>
            <a:cxnLst/>
            <a:rect l="l" t="t" r="r" b="b"/>
            <a:pathLst>
              <a:path w="3098964" h="3098964">
                <a:moveTo>
                  <a:pt x="0" y="0"/>
                </a:moveTo>
                <a:lnTo>
                  <a:pt x="3098964" y="0"/>
                </a:lnTo>
                <a:lnTo>
                  <a:pt x="3098964" y="3098964"/>
                </a:lnTo>
                <a:lnTo>
                  <a:pt x="0" y="3098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252501" y="4501176"/>
            <a:ext cx="8014708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u="none" strike="noStrike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PÚBLICO ALVO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23289" y="4569600"/>
            <a:ext cx="3029624" cy="459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964" b="1" spc="20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% PIB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23289" y="6010376"/>
            <a:ext cx="4343626" cy="459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964" b="1" spc="20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QTD DE EMPREGOS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23289" y="5097227"/>
            <a:ext cx="3029624" cy="459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964" b="1">
                <a:solidFill>
                  <a:srgbClr val="7ED95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23289" y="6538003"/>
            <a:ext cx="3029624" cy="459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964" b="1">
                <a:solidFill>
                  <a:srgbClr val="7ED95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16.1 Milhões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47563" y="2329002"/>
            <a:ext cx="1846810" cy="93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6126" b="1" spc="-398">
                <a:solidFill>
                  <a:srgbClr val="7ED957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99%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52501" y="5853573"/>
            <a:ext cx="7576367" cy="261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26A301"/>
                </a:solidFill>
                <a:latin typeface="Proxima Nova"/>
                <a:ea typeface="Proxima Nova"/>
                <a:cs typeface="Proxima Nova"/>
                <a:sym typeface="Proxima Nova"/>
              </a:rPr>
              <a:t>Pequ</a:t>
            </a:r>
            <a:r>
              <a:rPr lang="en-US" sz="2500" u="none" strike="noStrike">
                <a:solidFill>
                  <a:srgbClr val="26A301"/>
                </a:solidFill>
                <a:latin typeface="Proxima Nova"/>
                <a:ea typeface="Proxima Nova"/>
                <a:cs typeface="Proxima Nova"/>
                <a:sym typeface="Proxima Nova"/>
              </a:rPr>
              <a:t>enas empresas representam aproximadamente 99% do total de negócios no Brasil, com base em dados do Ministério da Economia e do Sebrae. Esses negócios são cruciais para a economia, respondendo por cerca de 30% do PIB e empregando a maioria da mão de obra formal do país.  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78139" y="-2017700"/>
            <a:ext cx="12824468" cy="12824468"/>
          </a:xfrm>
          <a:custGeom>
            <a:avLst/>
            <a:gdLst/>
            <a:ahLst/>
            <a:cxnLst/>
            <a:rect l="l" t="t" r="r" b="b"/>
            <a:pathLst>
              <a:path w="12824468" h="12824468">
                <a:moveTo>
                  <a:pt x="0" y="0"/>
                </a:moveTo>
                <a:lnTo>
                  <a:pt x="12824468" y="0"/>
                </a:lnTo>
                <a:lnTo>
                  <a:pt x="12824468" y="12824468"/>
                </a:lnTo>
                <a:lnTo>
                  <a:pt x="0" y="12824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275557" y="1794325"/>
            <a:ext cx="9012443" cy="9012443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4"/>
              <a:stretch>
                <a:fillRect l="-467" r="-49345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632077" y="662561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13241" y="662561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50745" y="3513711"/>
            <a:ext cx="5796855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u="none" strike="noStrike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MERCADO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0745" y="4871124"/>
            <a:ext cx="7593255" cy="348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O m</a:t>
            </a:r>
            <a:r>
              <a:rPr lang="en-US" sz="2500" u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ercado de ERP para pequenas empresas está crescendo rápido e passando por forte digitalização. As empresas buscam sistemas mais simples, em nuvem e com apoio de inteligência artificial. Apesar da concorrência, ainda faltam soluções modernas e acessíveis para PMEs, o que abre uma grande oportunidade para expansão de ERPs como o POWP.</a:t>
            </a: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endParaRPr lang="en-US" sz="2500" u="none" strike="noStrike">
              <a:solidFill>
                <a:srgbClr val="7ED95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84704" y="7764471"/>
            <a:ext cx="10857885" cy="5181559"/>
          </a:xfrm>
          <a:custGeom>
            <a:avLst/>
            <a:gdLst/>
            <a:ahLst/>
            <a:cxnLst/>
            <a:rect l="l" t="t" r="r" b="b"/>
            <a:pathLst>
              <a:path w="10857885" h="5181559">
                <a:moveTo>
                  <a:pt x="0" y="0"/>
                </a:moveTo>
                <a:lnTo>
                  <a:pt x="10857885" y="0"/>
                </a:lnTo>
                <a:lnTo>
                  <a:pt x="10857885" y="5181559"/>
                </a:lnTo>
                <a:lnTo>
                  <a:pt x="0" y="51815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38301" y="2865429"/>
            <a:ext cx="1224584" cy="1325829"/>
          </a:xfrm>
          <a:custGeom>
            <a:avLst/>
            <a:gdLst/>
            <a:ahLst/>
            <a:cxnLst/>
            <a:rect l="l" t="t" r="r" b="b"/>
            <a:pathLst>
              <a:path w="1224584" h="1325829">
                <a:moveTo>
                  <a:pt x="0" y="0"/>
                </a:moveTo>
                <a:lnTo>
                  <a:pt x="1224584" y="0"/>
                </a:lnTo>
                <a:lnTo>
                  <a:pt x="1224584" y="1325830"/>
                </a:lnTo>
                <a:lnTo>
                  <a:pt x="0" y="132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46484" y="4472798"/>
            <a:ext cx="1408217" cy="1390295"/>
          </a:xfrm>
          <a:custGeom>
            <a:avLst/>
            <a:gdLst/>
            <a:ahLst/>
            <a:cxnLst/>
            <a:rect l="l" t="t" r="r" b="b"/>
            <a:pathLst>
              <a:path w="1408217" h="1390295">
                <a:moveTo>
                  <a:pt x="0" y="0"/>
                </a:moveTo>
                <a:lnTo>
                  <a:pt x="1408218" y="0"/>
                </a:lnTo>
                <a:lnTo>
                  <a:pt x="1408218" y="1390295"/>
                </a:lnTo>
                <a:lnTo>
                  <a:pt x="0" y="13902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167604" y="6052127"/>
            <a:ext cx="1387098" cy="1369444"/>
          </a:xfrm>
          <a:custGeom>
            <a:avLst/>
            <a:gdLst/>
            <a:ahLst/>
            <a:cxnLst/>
            <a:rect l="l" t="t" r="r" b="b"/>
            <a:pathLst>
              <a:path w="1387098" h="1369444">
                <a:moveTo>
                  <a:pt x="0" y="0"/>
                </a:moveTo>
                <a:lnTo>
                  <a:pt x="1387098" y="0"/>
                </a:lnTo>
                <a:lnTo>
                  <a:pt x="1387098" y="1369444"/>
                </a:lnTo>
                <a:lnTo>
                  <a:pt x="0" y="13694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50745" y="2294667"/>
            <a:ext cx="5796855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u="none" strike="noStrike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NOSSA SOLUÇÃO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87697" y="3341971"/>
            <a:ext cx="1962730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4" b="1" u="none" strike="noStrike" spc="23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CUSTO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87697" y="4905519"/>
            <a:ext cx="2636006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4" b="1" u="none" strike="noStrike" spc="23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BENEFÍCIO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87697" y="6727324"/>
            <a:ext cx="4378605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4" b="1" u="none" strike="noStrike" spc="23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ACESSIBILIDADE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0745" y="4532849"/>
            <a:ext cx="6192900" cy="305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26A301"/>
                </a:solidFill>
                <a:latin typeface="Proxima Nova"/>
                <a:ea typeface="Proxima Nova"/>
                <a:cs typeface="Proxima Nova"/>
                <a:sym typeface="Proxima Nova"/>
              </a:rPr>
              <a:t>O POWP vem para resolver esse problema, com uma solução de ERP modal, aonde o usuário paga somente pelo que desejar. Nosso diferencial está na modulação do sistema e IA integrada aonde a mesma oferta insights e melhora na tomada de decisões.</a:t>
            </a:r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16991022" y="1539221"/>
            <a:ext cx="1660777" cy="1469400"/>
            <a:chOff x="0" y="0"/>
            <a:chExt cx="437406" cy="387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50745" y="9621587"/>
            <a:ext cx="1660777" cy="1469400"/>
            <a:chOff x="0" y="0"/>
            <a:chExt cx="437406" cy="3870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16416780" y="1539221"/>
            <a:ext cx="489701" cy="1469400"/>
            <a:chOff x="0" y="0"/>
            <a:chExt cx="128975" cy="3870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296063" y="9621587"/>
            <a:ext cx="489701" cy="1469400"/>
            <a:chOff x="0" y="0"/>
            <a:chExt cx="128975" cy="38700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22698" y="6137275"/>
            <a:ext cx="1181906" cy="1271048"/>
          </a:xfrm>
          <a:custGeom>
            <a:avLst/>
            <a:gdLst/>
            <a:ahLst/>
            <a:cxnLst/>
            <a:rect l="l" t="t" r="r" b="b"/>
            <a:pathLst>
              <a:path w="1181906" h="1271048">
                <a:moveTo>
                  <a:pt x="0" y="0"/>
                </a:moveTo>
                <a:lnTo>
                  <a:pt x="1181905" y="0"/>
                </a:lnTo>
                <a:lnTo>
                  <a:pt x="1181905" y="1271048"/>
                </a:lnTo>
                <a:lnTo>
                  <a:pt x="0" y="1271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97347" y="6214456"/>
            <a:ext cx="1259157" cy="1259157"/>
          </a:xfrm>
          <a:custGeom>
            <a:avLst/>
            <a:gdLst/>
            <a:ahLst/>
            <a:cxnLst/>
            <a:rect l="l" t="t" r="r" b="b"/>
            <a:pathLst>
              <a:path w="1259157" h="1259157">
                <a:moveTo>
                  <a:pt x="0" y="0"/>
                </a:moveTo>
                <a:lnTo>
                  <a:pt x="1259156" y="0"/>
                </a:lnTo>
                <a:lnTo>
                  <a:pt x="1259156" y="1259156"/>
                </a:lnTo>
                <a:lnTo>
                  <a:pt x="0" y="1259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96609" y="6137275"/>
            <a:ext cx="1343666" cy="1336337"/>
          </a:xfrm>
          <a:custGeom>
            <a:avLst/>
            <a:gdLst/>
            <a:ahLst/>
            <a:cxnLst/>
            <a:rect l="l" t="t" r="r" b="b"/>
            <a:pathLst>
              <a:path w="1343666" h="1336337">
                <a:moveTo>
                  <a:pt x="0" y="0"/>
                </a:moveTo>
                <a:lnTo>
                  <a:pt x="1343666" y="0"/>
                </a:lnTo>
                <a:lnTo>
                  <a:pt x="1343666" y="1336337"/>
                </a:lnTo>
                <a:lnTo>
                  <a:pt x="0" y="13363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80629" y="6137275"/>
            <a:ext cx="1163230" cy="1165348"/>
          </a:xfrm>
          <a:custGeom>
            <a:avLst/>
            <a:gdLst/>
            <a:ahLst/>
            <a:cxnLst/>
            <a:rect l="l" t="t" r="r" b="b"/>
            <a:pathLst>
              <a:path w="1163230" h="1165348">
                <a:moveTo>
                  <a:pt x="0" y="0"/>
                </a:moveTo>
                <a:lnTo>
                  <a:pt x="1163230" y="0"/>
                </a:lnTo>
                <a:lnTo>
                  <a:pt x="1163230" y="1165349"/>
                </a:lnTo>
                <a:lnTo>
                  <a:pt x="0" y="1165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509876" y="1797895"/>
            <a:ext cx="7019752" cy="2462111"/>
          </a:xfrm>
          <a:custGeom>
            <a:avLst/>
            <a:gdLst/>
            <a:ahLst/>
            <a:cxnLst/>
            <a:rect l="l" t="t" r="r" b="b"/>
            <a:pathLst>
              <a:path w="7019752" h="2462111">
                <a:moveTo>
                  <a:pt x="0" y="0"/>
                </a:moveTo>
                <a:lnTo>
                  <a:pt x="7019752" y="0"/>
                </a:lnTo>
                <a:lnTo>
                  <a:pt x="7019752" y="2462111"/>
                </a:lnTo>
                <a:lnTo>
                  <a:pt x="0" y="2462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257759" y="1572251"/>
            <a:ext cx="12110257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 u="none" strike="noStrike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NOSSOS DIFERENCIAIS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57759" y="2981326"/>
            <a:ext cx="12110257" cy="217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Nossos diferenciais se enquadram na modularidade do sistema, aonde o usuário escolhe o módulo que melhor se enquadra para sua empresa, assim diminuindo seu custo. 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Optamos por uma arquitetura moderna no desenvolvimento.</a:t>
            </a: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Foco real em PME’s, aonde nosso sistema foi feito para atender esse público.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9012" y="7686585"/>
            <a:ext cx="2153034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r>
              <a:rPr lang="en-US" sz="3364" b="1" u="none" strike="noStrike" spc="23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VALOR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06217" y="7686585"/>
            <a:ext cx="4174440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r>
              <a:rPr lang="en-US" sz="3364" b="1" spc="23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MODULARIDADE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84829" y="7686585"/>
            <a:ext cx="3146140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r>
              <a:rPr lang="en-US" sz="3364" b="1" spc="23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FOCO PME’S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3127" y="7686585"/>
            <a:ext cx="4174440" cy="154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r>
              <a:rPr lang="en-US" sz="3364" b="1" spc="23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</a:t>
            </a:r>
            <a:r>
              <a:rPr lang="en-US" sz="3364" b="1" u="none" strike="noStrike" spc="23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RQUITETURA</a:t>
            </a:r>
          </a:p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r>
              <a:rPr lang="en-US" sz="3364" b="1" u="none" strike="noStrike" spc="23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MODERNA</a:t>
            </a:r>
          </a:p>
          <a:p>
            <a:pPr marL="0" lvl="0" indent="0" algn="ctr">
              <a:lnSpc>
                <a:spcPts val="4105"/>
              </a:lnSpc>
              <a:spcBef>
                <a:spcPct val="0"/>
              </a:spcBef>
            </a:pPr>
            <a:endParaRPr lang="en-US" sz="3364" b="1" u="none" strike="noStrike" spc="23">
              <a:solidFill>
                <a:srgbClr val="26A301"/>
              </a:solidFill>
              <a:latin typeface="Proxima Nova Heavy"/>
              <a:ea typeface="Proxima Nova Heavy"/>
              <a:cs typeface="Proxima Nova Heavy"/>
              <a:sym typeface="Proxima Nova Heavy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4622698" y="9621587"/>
            <a:ext cx="1660777" cy="1469400"/>
            <a:chOff x="0" y="0"/>
            <a:chExt cx="437406" cy="3870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368016" y="9621587"/>
            <a:ext cx="489701" cy="1469400"/>
            <a:chOff x="0" y="0"/>
            <a:chExt cx="128975" cy="38700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22508" y="2936219"/>
            <a:ext cx="11873584" cy="7858154"/>
          </a:xfrm>
          <a:custGeom>
            <a:avLst/>
            <a:gdLst/>
            <a:ahLst/>
            <a:cxnLst/>
            <a:rect l="l" t="t" r="r" b="b"/>
            <a:pathLst>
              <a:path w="11873584" h="785815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9654" y="-734700"/>
            <a:ext cx="1660777" cy="1469400"/>
            <a:chOff x="0" y="0"/>
            <a:chExt cx="437406" cy="3870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414973" y="-734700"/>
            <a:ext cx="489701" cy="1469400"/>
            <a:chOff x="0" y="0"/>
            <a:chExt cx="128975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103285" y="3387716"/>
            <a:ext cx="999891" cy="999891"/>
          </a:xfrm>
          <a:custGeom>
            <a:avLst/>
            <a:gdLst/>
            <a:ahLst/>
            <a:cxnLst/>
            <a:rect l="l" t="t" r="r" b="b"/>
            <a:pathLst>
              <a:path w="999891" h="999891">
                <a:moveTo>
                  <a:pt x="0" y="0"/>
                </a:moveTo>
                <a:lnTo>
                  <a:pt x="999891" y="0"/>
                </a:lnTo>
                <a:lnTo>
                  <a:pt x="999891" y="999891"/>
                </a:lnTo>
                <a:lnTo>
                  <a:pt x="0" y="999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987139" y="4915392"/>
            <a:ext cx="1116037" cy="1116037"/>
          </a:xfrm>
          <a:custGeom>
            <a:avLst/>
            <a:gdLst/>
            <a:ahLst/>
            <a:cxnLst/>
            <a:rect l="l" t="t" r="r" b="b"/>
            <a:pathLst>
              <a:path w="1116037" h="1116037">
                <a:moveTo>
                  <a:pt x="0" y="0"/>
                </a:moveTo>
                <a:lnTo>
                  <a:pt x="1116037" y="0"/>
                </a:lnTo>
                <a:lnTo>
                  <a:pt x="1116037" y="1116037"/>
                </a:lnTo>
                <a:lnTo>
                  <a:pt x="0" y="1116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840691" y="6764854"/>
            <a:ext cx="1262485" cy="1262485"/>
          </a:xfrm>
          <a:custGeom>
            <a:avLst/>
            <a:gdLst/>
            <a:ahLst/>
            <a:cxnLst/>
            <a:rect l="l" t="t" r="r" b="b"/>
            <a:pathLst>
              <a:path w="1262485" h="1262485">
                <a:moveTo>
                  <a:pt x="0" y="0"/>
                </a:moveTo>
                <a:lnTo>
                  <a:pt x="1262485" y="0"/>
                </a:lnTo>
                <a:lnTo>
                  <a:pt x="1262485" y="1262485"/>
                </a:lnTo>
                <a:lnTo>
                  <a:pt x="0" y="12624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944946" y="8551214"/>
            <a:ext cx="1158230" cy="1158230"/>
          </a:xfrm>
          <a:custGeom>
            <a:avLst/>
            <a:gdLst/>
            <a:ahLst/>
            <a:cxnLst/>
            <a:rect l="l" t="t" r="r" b="b"/>
            <a:pathLst>
              <a:path w="1158230" h="1158230">
                <a:moveTo>
                  <a:pt x="0" y="0"/>
                </a:moveTo>
                <a:lnTo>
                  <a:pt x="1158230" y="0"/>
                </a:lnTo>
                <a:lnTo>
                  <a:pt x="1158230" y="1158230"/>
                </a:lnTo>
                <a:lnTo>
                  <a:pt x="0" y="11582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01759" y="1445251"/>
            <a:ext cx="12110257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BENEFICIOS AO USUÁRIO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37472" y="3612316"/>
            <a:ext cx="7153855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4" b="1" spc="23">
                <a:solidFill>
                  <a:srgbClr val="7ED957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ECONOMIA DE TEMPO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75572" y="5210983"/>
            <a:ext cx="6033256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4" b="1" spc="23">
                <a:solidFill>
                  <a:srgbClr val="7ED957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REDUÇÃO DE ERROS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59823" y="7133670"/>
            <a:ext cx="6588881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4" b="1" spc="23">
                <a:solidFill>
                  <a:srgbClr val="7ED957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CENTRALIZAÇÃO DA GESTÃO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59823" y="8813178"/>
            <a:ext cx="5966105" cy="51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5"/>
              </a:lnSpc>
              <a:spcBef>
                <a:spcPct val="0"/>
              </a:spcBef>
            </a:pPr>
            <a:r>
              <a:rPr lang="en-US" sz="3364" b="1" spc="23">
                <a:solidFill>
                  <a:srgbClr val="7ED957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SIMPLICIDADE EM SEU USO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991022" y="1539221"/>
            <a:ext cx="1660777" cy="1469400"/>
            <a:chOff x="0" y="0"/>
            <a:chExt cx="437406" cy="38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0745" y="9621587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6416780" y="1539221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96063" y="9621587"/>
            <a:ext cx="489701" cy="1469400"/>
            <a:chOff x="0" y="0"/>
            <a:chExt cx="128975" cy="387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>
            <a:off x="-6491042" y="1539221"/>
            <a:ext cx="11760614" cy="1710635"/>
          </a:xfrm>
          <a:custGeom>
            <a:avLst/>
            <a:gdLst/>
            <a:ahLst/>
            <a:cxnLst/>
            <a:rect l="l" t="t" r="r" b="b"/>
            <a:pathLst>
              <a:path w="11760614" h="1710635">
                <a:moveTo>
                  <a:pt x="0" y="0"/>
                </a:moveTo>
                <a:lnTo>
                  <a:pt x="11760614" y="0"/>
                </a:lnTo>
                <a:lnTo>
                  <a:pt x="11760614" y="1710634"/>
                </a:lnTo>
                <a:lnTo>
                  <a:pt x="0" y="1710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740116" y="4992470"/>
            <a:ext cx="2360621" cy="2455783"/>
          </a:xfrm>
          <a:custGeom>
            <a:avLst/>
            <a:gdLst/>
            <a:ahLst/>
            <a:cxnLst/>
            <a:rect l="l" t="t" r="r" b="b"/>
            <a:pathLst>
              <a:path w="2360621" h="2455783">
                <a:moveTo>
                  <a:pt x="0" y="0"/>
                </a:moveTo>
                <a:lnTo>
                  <a:pt x="2360622" y="0"/>
                </a:lnTo>
                <a:lnTo>
                  <a:pt x="2360622" y="2455783"/>
                </a:lnTo>
                <a:lnTo>
                  <a:pt x="0" y="2455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773067" y="4884679"/>
            <a:ext cx="4246152" cy="3184614"/>
          </a:xfrm>
          <a:custGeom>
            <a:avLst/>
            <a:gdLst/>
            <a:ahLst/>
            <a:cxnLst/>
            <a:rect l="l" t="t" r="r" b="b"/>
            <a:pathLst>
              <a:path w="4246152" h="3184614">
                <a:moveTo>
                  <a:pt x="0" y="0"/>
                </a:moveTo>
                <a:lnTo>
                  <a:pt x="4246152" y="0"/>
                </a:lnTo>
                <a:lnTo>
                  <a:pt x="4246152" y="3184614"/>
                </a:lnTo>
                <a:lnTo>
                  <a:pt x="0" y="3184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332077" y="4907420"/>
            <a:ext cx="2398874" cy="2398874"/>
          </a:xfrm>
          <a:custGeom>
            <a:avLst/>
            <a:gdLst/>
            <a:ahLst/>
            <a:cxnLst/>
            <a:rect l="l" t="t" r="r" b="b"/>
            <a:pathLst>
              <a:path w="2398874" h="2398874">
                <a:moveTo>
                  <a:pt x="0" y="0"/>
                </a:moveTo>
                <a:lnTo>
                  <a:pt x="2398874" y="0"/>
                </a:lnTo>
                <a:lnTo>
                  <a:pt x="2398874" y="2398874"/>
                </a:lnTo>
                <a:lnTo>
                  <a:pt x="0" y="23988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81696" y="4907420"/>
            <a:ext cx="2398874" cy="2398874"/>
          </a:xfrm>
          <a:custGeom>
            <a:avLst/>
            <a:gdLst/>
            <a:ahLst/>
            <a:cxnLst/>
            <a:rect l="l" t="t" r="r" b="b"/>
            <a:pathLst>
              <a:path w="2398874" h="2398874">
                <a:moveTo>
                  <a:pt x="0" y="0"/>
                </a:moveTo>
                <a:lnTo>
                  <a:pt x="2398875" y="0"/>
                </a:lnTo>
                <a:lnTo>
                  <a:pt x="2398875" y="2398874"/>
                </a:lnTo>
                <a:lnTo>
                  <a:pt x="0" y="23988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507809" y="4992470"/>
            <a:ext cx="2313825" cy="2313825"/>
          </a:xfrm>
          <a:custGeom>
            <a:avLst/>
            <a:gdLst/>
            <a:ahLst/>
            <a:cxnLst/>
            <a:rect l="l" t="t" r="r" b="b"/>
            <a:pathLst>
              <a:path w="2313825" h="2313825">
                <a:moveTo>
                  <a:pt x="0" y="0"/>
                </a:moveTo>
                <a:lnTo>
                  <a:pt x="2313825" y="0"/>
                </a:lnTo>
                <a:lnTo>
                  <a:pt x="2313825" y="2313824"/>
                </a:lnTo>
                <a:lnTo>
                  <a:pt x="0" y="23138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707165" y="1383618"/>
            <a:ext cx="6065902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TECNOLOGIAS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411750" y="-2289187"/>
            <a:ext cx="6062923" cy="6038007"/>
          </a:xfrm>
          <a:custGeom>
            <a:avLst/>
            <a:gdLst/>
            <a:ahLst/>
            <a:cxnLst/>
            <a:rect l="l" t="t" r="r" b="b"/>
            <a:pathLst>
              <a:path w="6062923" h="6038007">
                <a:moveTo>
                  <a:pt x="0" y="0"/>
                </a:moveTo>
                <a:lnTo>
                  <a:pt x="6062923" y="0"/>
                </a:lnTo>
                <a:lnTo>
                  <a:pt x="6062923" y="6038006"/>
                </a:lnTo>
                <a:lnTo>
                  <a:pt x="0" y="6038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299271" y="-440700"/>
            <a:ext cx="1660777" cy="1469400"/>
            <a:chOff x="0" y="0"/>
            <a:chExt cx="437406" cy="3870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1769" y="9258300"/>
            <a:ext cx="1660777" cy="1469400"/>
            <a:chOff x="0" y="0"/>
            <a:chExt cx="437406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44589" y="-440700"/>
            <a:ext cx="489701" cy="1469400"/>
            <a:chOff x="0" y="0"/>
            <a:chExt cx="128975" cy="3870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47087" y="9258300"/>
            <a:ext cx="489701" cy="1469400"/>
            <a:chOff x="0" y="0"/>
            <a:chExt cx="128975" cy="3870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332836" y="4659531"/>
            <a:ext cx="1761687" cy="1761687"/>
          </a:xfrm>
          <a:custGeom>
            <a:avLst/>
            <a:gdLst/>
            <a:ahLst/>
            <a:cxnLst/>
            <a:rect l="l" t="t" r="r" b="b"/>
            <a:pathLst>
              <a:path w="1761687" h="1761687">
                <a:moveTo>
                  <a:pt x="0" y="0"/>
                </a:moveTo>
                <a:lnTo>
                  <a:pt x="1761688" y="0"/>
                </a:lnTo>
                <a:lnTo>
                  <a:pt x="1761688" y="1761688"/>
                </a:lnTo>
                <a:lnTo>
                  <a:pt x="0" y="176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414094" y="4659531"/>
            <a:ext cx="1761687" cy="1761687"/>
          </a:xfrm>
          <a:custGeom>
            <a:avLst/>
            <a:gdLst/>
            <a:ahLst/>
            <a:cxnLst/>
            <a:rect l="l" t="t" r="r" b="b"/>
            <a:pathLst>
              <a:path w="1761687" h="1761687">
                <a:moveTo>
                  <a:pt x="0" y="0"/>
                </a:moveTo>
                <a:lnTo>
                  <a:pt x="1761687" y="0"/>
                </a:lnTo>
                <a:lnTo>
                  <a:pt x="1761687" y="1761688"/>
                </a:lnTo>
                <a:lnTo>
                  <a:pt x="0" y="1761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591015" y="4659531"/>
            <a:ext cx="1761687" cy="1761687"/>
          </a:xfrm>
          <a:custGeom>
            <a:avLst/>
            <a:gdLst/>
            <a:ahLst/>
            <a:cxnLst/>
            <a:rect l="l" t="t" r="r" b="b"/>
            <a:pathLst>
              <a:path w="1761687" h="1761687">
                <a:moveTo>
                  <a:pt x="0" y="0"/>
                </a:moveTo>
                <a:lnTo>
                  <a:pt x="1761688" y="0"/>
                </a:lnTo>
                <a:lnTo>
                  <a:pt x="1761688" y="1761688"/>
                </a:lnTo>
                <a:lnTo>
                  <a:pt x="0" y="17616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336759" y="4659531"/>
            <a:ext cx="1761687" cy="1761687"/>
          </a:xfrm>
          <a:custGeom>
            <a:avLst/>
            <a:gdLst/>
            <a:ahLst/>
            <a:cxnLst/>
            <a:rect l="l" t="t" r="r" b="b"/>
            <a:pathLst>
              <a:path w="1761687" h="1761687">
                <a:moveTo>
                  <a:pt x="0" y="0"/>
                </a:moveTo>
                <a:lnTo>
                  <a:pt x="1761687" y="0"/>
                </a:lnTo>
                <a:lnTo>
                  <a:pt x="1761687" y="1761688"/>
                </a:lnTo>
                <a:lnTo>
                  <a:pt x="0" y="17616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794791" y="506902"/>
            <a:ext cx="8418755" cy="20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VALIDAÇÃO DO PROBLEMA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37201" y="6781581"/>
            <a:ext cx="3352958" cy="71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5"/>
              </a:lnSpc>
              <a:spcBef>
                <a:spcPct val="0"/>
              </a:spcBef>
            </a:pPr>
            <a:r>
              <a:rPr lang="en-US" sz="2364" b="1" spc="16">
                <a:solidFill>
                  <a:srgbClr val="7ED957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FALTA DE ORGANIZAÇÃO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90159" y="6781581"/>
            <a:ext cx="3163399" cy="1079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5"/>
              </a:lnSpc>
              <a:spcBef>
                <a:spcPct val="0"/>
              </a:spcBef>
            </a:pPr>
            <a:r>
              <a:rPr lang="en-US" sz="2364" b="1" spc="16">
                <a:solidFill>
                  <a:srgbClr val="7ED957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USO EXCESSIVO DE PLANILHAS E ANOTAÇÕES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77934" y="6781581"/>
            <a:ext cx="3163399" cy="144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5"/>
              </a:lnSpc>
              <a:spcBef>
                <a:spcPct val="0"/>
              </a:spcBef>
            </a:pPr>
            <a:r>
              <a:rPr lang="en-US" sz="2364" b="1" spc="16">
                <a:solidFill>
                  <a:srgbClr val="7ED957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FALTA DE FERRAMENTAS QUE ATENDAM SOMENTE O ESSENCIAL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35903" y="6781581"/>
            <a:ext cx="3163399" cy="71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5"/>
              </a:lnSpc>
              <a:spcBef>
                <a:spcPct val="0"/>
              </a:spcBef>
            </a:pPr>
            <a:r>
              <a:rPr lang="en-US" sz="2364" b="1" spc="16">
                <a:solidFill>
                  <a:srgbClr val="7ED957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CUSTO ELEVADO DE OUTROS SISTEMAS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258300"/>
            <a:ext cx="1660777" cy="1469400"/>
            <a:chOff x="0" y="0"/>
            <a:chExt cx="437406" cy="38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74018" y="9258300"/>
            <a:ext cx="489701" cy="1469400"/>
            <a:chOff x="0" y="0"/>
            <a:chExt cx="128975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106289" y="294000"/>
            <a:ext cx="11760614" cy="1710635"/>
          </a:xfrm>
          <a:custGeom>
            <a:avLst/>
            <a:gdLst/>
            <a:ahLst/>
            <a:cxnLst/>
            <a:rect l="l" t="t" r="r" b="b"/>
            <a:pathLst>
              <a:path w="11760614" h="1710635">
                <a:moveTo>
                  <a:pt x="0" y="0"/>
                </a:moveTo>
                <a:lnTo>
                  <a:pt x="11760614" y="0"/>
                </a:lnTo>
                <a:lnTo>
                  <a:pt x="11760614" y="1710635"/>
                </a:lnTo>
                <a:lnTo>
                  <a:pt x="0" y="1710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048841" y="638460"/>
            <a:ext cx="8602958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MOCKUP</a:t>
            </a:r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16991022" y="294000"/>
            <a:ext cx="1660777" cy="1469400"/>
            <a:chOff x="0" y="0"/>
            <a:chExt cx="437406" cy="3870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16416780" y="294000"/>
            <a:ext cx="489701" cy="1469400"/>
            <a:chOff x="0" y="0"/>
            <a:chExt cx="128975" cy="3870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707959" y="3320986"/>
            <a:ext cx="8260546" cy="4047667"/>
          </a:xfrm>
          <a:custGeom>
            <a:avLst/>
            <a:gdLst/>
            <a:ahLst/>
            <a:cxnLst/>
            <a:rect l="l" t="t" r="r" b="b"/>
            <a:pathLst>
              <a:path w="8260546" h="4047667">
                <a:moveTo>
                  <a:pt x="0" y="0"/>
                </a:moveTo>
                <a:lnTo>
                  <a:pt x="8260545" y="0"/>
                </a:lnTo>
                <a:lnTo>
                  <a:pt x="8260545" y="4047668"/>
                </a:lnTo>
                <a:lnTo>
                  <a:pt x="0" y="4047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737262" y="3417526"/>
            <a:ext cx="8084148" cy="3951128"/>
          </a:xfrm>
          <a:custGeom>
            <a:avLst/>
            <a:gdLst/>
            <a:ahLst/>
            <a:cxnLst/>
            <a:rect l="l" t="t" r="r" b="b"/>
            <a:pathLst>
              <a:path w="8084148" h="3951128">
                <a:moveTo>
                  <a:pt x="0" y="0"/>
                </a:moveTo>
                <a:lnTo>
                  <a:pt x="8084149" y="0"/>
                </a:lnTo>
                <a:lnTo>
                  <a:pt x="8084149" y="3951128"/>
                </a:lnTo>
                <a:lnTo>
                  <a:pt x="0" y="3951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72030" y="7613129"/>
            <a:ext cx="4932404" cy="468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01"/>
              </a:lnSpc>
              <a:spcBef>
                <a:spcPct val="0"/>
              </a:spcBef>
            </a:pPr>
            <a:r>
              <a:rPr lang="en-US" sz="3034" b="1" spc="2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CONTROLE DE ESTOQUE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3134" y="7613129"/>
            <a:ext cx="4932404" cy="44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01"/>
              </a:lnSpc>
              <a:spcBef>
                <a:spcPct val="0"/>
              </a:spcBef>
            </a:pPr>
            <a:r>
              <a:rPr lang="en-US" sz="3034" b="1" spc="21" dirty="0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CHAT </a:t>
            </a:r>
            <a:r>
              <a:rPr lang="en-US" sz="3034" b="1" spc="2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DE INSIGHTS</a:t>
            </a:r>
            <a:endParaRPr lang="en-US" sz="3034" b="1" spc="21" dirty="0">
              <a:solidFill>
                <a:srgbClr val="26A301"/>
              </a:solidFill>
              <a:latin typeface="Proxima Nova Heavy"/>
              <a:ea typeface="Proxima Nova Heavy"/>
              <a:cs typeface="Proxima Nova Heavy"/>
              <a:sym typeface="Proxima Nova Heavy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547091" y="-4328928"/>
            <a:ext cx="14913856" cy="14913856"/>
          </a:xfrm>
          <a:custGeom>
            <a:avLst/>
            <a:gdLst/>
            <a:ahLst/>
            <a:cxnLst/>
            <a:rect l="l" t="t" r="r" b="b"/>
            <a:pathLst>
              <a:path w="14913856" h="14913856">
                <a:moveTo>
                  <a:pt x="14913856" y="0"/>
                </a:moveTo>
                <a:lnTo>
                  <a:pt x="0" y="0"/>
                </a:lnTo>
                <a:lnTo>
                  <a:pt x="0" y="14913856"/>
                </a:lnTo>
                <a:lnTo>
                  <a:pt x="14913856" y="14913856"/>
                </a:lnTo>
                <a:lnTo>
                  <a:pt x="149138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6991022" y="1145136"/>
            <a:ext cx="1660777" cy="1469400"/>
            <a:chOff x="0" y="0"/>
            <a:chExt cx="437406" cy="3870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16416780" y="1145136"/>
            <a:ext cx="489701" cy="1469400"/>
            <a:chOff x="0" y="0"/>
            <a:chExt cx="128975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26A30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619291" y="2418199"/>
            <a:ext cx="1337009" cy="1337009"/>
          </a:xfrm>
          <a:custGeom>
            <a:avLst/>
            <a:gdLst/>
            <a:ahLst/>
            <a:cxnLst/>
            <a:rect l="l" t="t" r="r" b="b"/>
            <a:pathLst>
              <a:path w="1337009" h="1337009">
                <a:moveTo>
                  <a:pt x="0" y="0"/>
                </a:moveTo>
                <a:lnTo>
                  <a:pt x="1337010" y="0"/>
                </a:lnTo>
                <a:lnTo>
                  <a:pt x="1337010" y="1337009"/>
                </a:lnTo>
                <a:lnTo>
                  <a:pt x="0" y="1337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98292" y="4015617"/>
            <a:ext cx="1258008" cy="1258008"/>
          </a:xfrm>
          <a:custGeom>
            <a:avLst/>
            <a:gdLst/>
            <a:ahLst/>
            <a:cxnLst/>
            <a:rect l="l" t="t" r="r" b="b"/>
            <a:pathLst>
              <a:path w="1258008" h="1258008">
                <a:moveTo>
                  <a:pt x="0" y="0"/>
                </a:moveTo>
                <a:lnTo>
                  <a:pt x="1258009" y="0"/>
                </a:lnTo>
                <a:lnTo>
                  <a:pt x="1258009" y="1258008"/>
                </a:lnTo>
                <a:lnTo>
                  <a:pt x="0" y="1258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799515" y="5637740"/>
            <a:ext cx="1156785" cy="1156785"/>
          </a:xfrm>
          <a:custGeom>
            <a:avLst/>
            <a:gdLst/>
            <a:ahLst/>
            <a:cxnLst/>
            <a:rect l="l" t="t" r="r" b="b"/>
            <a:pathLst>
              <a:path w="1156785" h="1156785">
                <a:moveTo>
                  <a:pt x="0" y="0"/>
                </a:moveTo>
                <a:lnTo>
                  <a:pt x="1156786" y="0"/>
                </a:lnTo>
                <a:lnTo>
                  <a:pt x="1156786" y="1156785"/>
                </a:lnTo>
                <a:lnTo>
                  <a:pt x="0" y="1156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15634" y="7156475"/>
            <a:ext cx="1324548" cy="1324548"/>
          </a:xfrm>
          <a:custGeom>
            <a:avLst/>
            <a:gdLst/>
            <a:ahLst/>
            <a:cxnLst/>
            <a:rect l="l" t="t" r="r" b="b"/>
            <a:pathLst>
              <a:path w="1324548" h="1324548">
                <a:moveTo>
                  <a:pt x="0" y="0"/>
                </a:moveTo>
                <a:lnTo>
                  <a:pt x="1324548" y="0"/>
                </a:lnTo>
                <a:lnTo>
                  <a:pt x="1324548" y="1324548"/>
                </a:lnTo>
                <a:lnTo>
                  <a:pt x="0" y="1324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716937" y="868916"/>
            <a:ext cx="6955888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ROADMAP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58306" y="2950196"/>
            <a:ext cx="3717780" cy="45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3"/>
              </a:lnSpc>
              <a:spcBef>
                <a:spcPct val="0"/>
              </a:spcBef>
            </a:pPr>
            <a:r>
              <a:rPr lang="en-US" sz="3051" b="1" spc="2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NOVOS MODULOS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58306" y="4368233"/>
            <a:ext cx="4414519" cy="45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3"/>
              </a:lnSpc>
              <a:spcBef>
                <a:spcPct val="0"/>
              </a:spcBef>
            </a:pPr>
            <a:r>
              <a:rPr lang="en-US" sz="3051" b="1" spc="2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NOVAS TECNOLOGIAS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8306" y="5986767"/>
            <a:ext cx="4414519" cy="45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3"/>
              </a:lnSpc>
              <a:spcBef>
                <a:spcPct val="0"/>
              </a:spcBef>
            </a:pPr>
            <a:r>
              <a:rPr lang="en-US" sz="3051" b="1" spc="2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AMPLIAR USO DE IA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58306" y="7521823"/>
            <a:ext cx="4414519" cy="45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3"/>
              </a:lnSpc>
              <a:spcBef>
                <a:spcPct val="0"/>
              </a:spcBef>
            </a:pPr>
            <a:r>
              <a:rPr lang="en-US" sz="3051" b="1" spc="21">
                <a:solidFill>
                  <a:srgbClr val="26A301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APP MOBILE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D9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4362" y="4632643"/>
            <a:ext cx="8272689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MUITO OBRIGADO!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4362" y="5940107"/>
            <a:ext cx="4872081" cy="73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 b="1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Alguma Dúvida? </a:t>
            </a:r>
          </a:p>
        </p:txBody>
      </p:sp>
      <p:sp>
        <p:nvSpPr>
          <p:cNvPr id="4" name="Freeform 4"/>
          <p:cNvSpPr/>
          <p:nvPr/>
        </p:nvSpPr>
        <p:spPr>
          <a:xfrm>
            <a:off x="1805061" y="3415808"/>
            <a:ext cx="845359" cy="845359"/>
          </a:xfrm>
          <a:custGeom>
            <a:avLst/>
            <a:gdLst/>
            <a:ahLst/>
            <a:cxnLst/>
            <a:rect l="l" t="t" r="r" b="b"/>
            <a:pathLst>
              <a:path w="845359" h="845359">
                <a:moveTo>
                  <a:pt x="0" y="0"/>
                </a:moveTo>
                <a:lnTo>
                  <a:pt x="845359" y="0"/>
                </a:lnTo>
                <a:lnTo>
                  <a:pt x="845359" y="845360"/>
                </a:lnTo>
                <a:lnTo>
                  <a:pt x="0" y="845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50420" y="2469915"/>
            <a:ext cx="16117421" cy="10666802"/>
          </a:xfrm>
          <a:custGeom>
            <a:avLst/>
            <a:gdLst/>
            <a:ahLst/>
            <a:cxnLst/>
            <a:rect l="l" t="t" r="r" b="b"/>
            <a:pathLst>
              <a:path w="16117421" h="10666802">
                <a:moveTo>
                  <a:pt x="0" y="0"/>
                </a:moveTo>
                <a:lnTo>
                  <a:pt x="16117421" y="0"/>
                </a:lnTo>
                <a:lnTo>
                  <a:pt x="16117421" y="10666803"/>
                </a:lnTo>
                <a:lnTo>
                  <a:pt x="0" y="10666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533785" y="4767608"/>
            <a:ext cx="4725515" cy="4725515"/>
          </a:xfrm>
          <a:custGeom>
            <a:avLst/>
            <a:gdLst/>
            <a:ahLst/>
            <a:cxnLst/>
            <a:rect l="l" t="t" r="r" b="b"/>
            <a:pathLst>
              <a:path w="4725515" h="4725515">
                <a:moveTo>
                  <a:pt x="0" y="0"/>
                </a:moveTo>
                <a:lnTo>
                  <a:pt x="4725515" y="0"/>
                </a:lnTo>
                <a:lnTo>
                  <a:pt x="4725515" y="4725515"/>
                </a:lnTo>
                <a:lnTo>
                  <a:pt x="0" y="472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Personalizar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Proxima Nova Bold</vt:lpstr>
      <vt:lpstr>Arial</vt:lpstr>
      <vt:lpstr>Proxima Nova Heavy</vt:lpstr>
      <vt:lpstr>Calibri</vt:lpstr>
      <vt:lpstr>Proxima Nova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Powp</dc:title>
  <cp:lastModifiedBy>Matheus Marques Portela</cp:lastModifiedBy>
  <cp:revision>2</cp:revision>
  <dcterms:created xsi:type="dcterms:W3CDTF">2006-08-16T00:00:00Z</dcterms:created>
  <dcterms:modified xsi:type="dcterms:W3CDTF">2025-11-28T19:18:34Z</dcterms:modified>
  <dc:identifier>DAG5R2ZbWaY</dc:identifier>
</cp:coreProperties>
</file>